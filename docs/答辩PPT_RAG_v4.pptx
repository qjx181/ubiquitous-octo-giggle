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2" r:id="rId23"/>
    <p:sldId id="273" r:id="rId24"/>
    <p:sldId id="274" r:id="rId25"/>
    <p:sldId id="275" r:id="rId26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20040" cy="18288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企业级智能文档问答系统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EC5"/>
                </a:solidFill>
                <a:latin typeface="Calibri"/>
              </a:defRPr>
            </a:pPr>
            <a:r>
              <a:t>基于 RAG 架构的招股说明书智能问答平台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23360"/>
            <a:ext cx="18288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8909C"/>
                </a:solidFill>
                <a:latin typeface="Calibri"/>
              </a:defRPr>
            </a:pPr>
            <a:r>
              <a:t>答辩人：XXX    指导老师：XXX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6E7A"/>
                </a:solidFill>
                <a:latin typeface="Calibri"/>
              </a:defRPr>
            </a:pPr>
            <a:r>
              <a:t>专高阶段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233A"/>
                </a:solidFill>
                <a:latin typeface="Arial Black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8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6276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33A"/>
                </a:solidFill>
                <a:latin typeface="Calibri"/>
              </a:defRPr>
            </a:pPr>
            <a:r>
              <a:t>项目背景与目标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2194560"/>
            <a:ext cx="3657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8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404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33A"/>
                </a:solidFill>
                <a:latin typeface="Calibri"/>
              </a:defRPr>
            </a:pPr>
            <a:r>
              <a:t>系统架构总览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971800"/>
            <a:ext cx="3657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1821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33A"/>
                </a:solidFill>
                <a:latin typeface="Calibri"/>
              </a:defRPr>
            </a:pPr>
            <a:r>
              <a:t>离线数据处理管道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749040"/>
            <a:ext cx="3657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886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8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959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33A"/>
                </a:solidFill>
                <a:latin typeface="Calibri"/>
              </a:defRPr>
            </a:pPr>
            <a:r>
              <a:t>在线 RAG 服务设计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4526280"/>
            <a:ext cx="3657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663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8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7365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33A"/>
                </a:solidFill>
                <a:latin typeface="Calibri"/>
              </a:defRPr>
            </a:pPr>
            <a:r>
              <a:t>核心设计亮点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303520"/>
            <a:ext cx="3657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5440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8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5138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233A"/>
                </a:solidFill>
                <a:latin typeface="Calibri"/>
              </a:defRPr>
            </a:pPr>
            <a:r>
              <a:t>总结与演示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233A"/>
                </a:solidFill>
                <a:latin typeface="Arial Black"/>
              </a:defRPr>
            </a:pPr>
            <a:r>
              <a:t>01  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32004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99616"/>
            <a:ext cx="3200400" cy="2743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233A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业务痛点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金融招股书数据量大</a:t>
            </a:r>
            <a:br/>
            <a:r>
              <a:t>人工查找效率低</a:t>
            </a:r>
            <a:br/>
            <a:r>
              <a:t>关键词搜索无法理解语义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39" y="1463040"/>
            <a:ext cx="32004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39" y="1499616"/>
            <a:ext cx="3200400" cy="2743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9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233A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项目目标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34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构建企业级 RAG 系统</a:t>
            </a:r>
            <a:br/>
            <a:r>
              <a:t>支持智能问答 + 溯源引用</a:t>
            </a:r>
            <a:br/>
            <a:r>
              <a:t>纯本地部署保障数据安全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78" y="1463040"/>
            <a:ext cx="32004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78" y="1499616"/>
            <a:ext cx="3200400" cy="2743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38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233A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8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方案定位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8" y="2834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双引擎智能分流</a:t>
            </a:r>
            <a:br/>
            <a:r>
              <a:t>企业级工程架构</a:t>
            </a:r>
            <a:br/>
            <a:r>
              <a:t>可扩展 · 可维护 · 可部署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10332720" cy="164592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7548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3A"/>
                </a:solidFill>
                <a:latin typeface="Calibri"/>
              </a:defRPr>
            </a:pPr>
            <a:r>
              <a:t>一句话定位</a:t>
            </a:r>
            <a:br/>
            <a:r>
              <a:t>先检索再回答——用户提问后，系统到知识库中找到最相关的文档片段，</a:t>
            </a:r>
            <a:br/>
            <a:r>
              <a:t>再交给大语言模型生成基于事实的回答。检索不到就不回答，从根本上防止幻觉。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233A"/>
                </a:solidFill>
                <a:latin typeface="Arial Black"/>
              </a:defRPr>
            </a:pPr>
            <a:r>
              <a:t>技术栈一览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377440" cy="64008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🎯 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4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22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371600"/>
            <a:ext cx="2377440" cy="64008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🧠 AI 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28600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BGE-M3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01752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0906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BGE-Reranker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74904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3822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SGLang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48056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5537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Ollama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371600"/>
            <a:ext cx="2377440" cy="64008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🗄️ 存储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8600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Milvus 向量库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1752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0906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Redis 缓存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4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822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JSONL 格式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1371600"/>
            <a:ext cx="2377440" cy="64008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🛠️ 工具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228600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01752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0906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PyCharm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749040"/>
            <a:ext cx="2377440" cy="6400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3822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233A"/>
                </a:solidFill>
                <a:latin typeface="Calibri"/>
              </a:defRPr>
            </a:pPr>
            <a:r>
              <a:t>Hermes 引擎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Calibri"/>
              </a:defRPr>
            </a:pPr>
            <a:r>
              <a:t>全部模型本地部署，不调用外部 API，保障金融数据安全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233A"/>
                </a:solidFill>
                <a:latin typeface="Arial Black"/>
              </a:defRPr>
            </a:pPr>
            <a:r>
              <a:t>02  系统架构总览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82880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📥 离线管道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011680" cy="109728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PDF解析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423160"/>
            <a:ext cx="32004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2011680"/>
            <a:ext cx="2011680" cy="109728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文本分块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49240" y="2423160"/>
            <a:ext cx="32004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2011680"/>
            <a:ext cx="2011680" cy="109728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BGE-M3</a:t>
            </a:r>
            <a:br/>
            <a:r>
              <a:t>向量化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26680" y="2423160"/>
            <a:ext cx="32004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2011680" cy="109728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Milvus</a:t>
            </a:r>
            <a:br/>
            <a:r>
              <a:t>存储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83280"/>
            <a:ext cx="1828800" cy="50292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📤 在线服务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14800"/>
            <a:ext cx="17373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33A"/>
                </a:solidFill>
                <a:latin typeface="Calibri"/>
              </a:defRPr>
            </a:pPr>
            <a:r>
              <a:t>HTTP</a:t>
            </a:r>
            <a:br/>
            <a:r>
              <a:t>请求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97480" y="4526280"/>
            <a:ext cx="32004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26080" y="4114800"/>
            <a:ext cx="17373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206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33A"/>
                </a:solidFill>
                <a:latin typeface="Calibri"/>
              </a:defRPr>
            </a:pPr>
            <a:r>
              <a:t>FastAPI</a:t>
            </a:r>
            <a:br/>
            <a:r>
              <a:t>中间件链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709160" y="4526280"/>
            <a:ext cx="32004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37760" y="4114800"/>
            <a:ext cx="1737360" cy="118872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4206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RAG核心</a:t>
            </a:r>
            <a:br/>
            <a:r>
              <a:t>检索+重排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720840" y="4526280"/>
            <a:ext cx="32004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49440" y="4114800"/>
            <a:ext cx="173736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206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SGLang/Ollama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32520" y="4526280"/>
            <a:ext cx="320040" cy="228600"/>
          </a:xfrm>
          <a:prstGeom prst="right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0" y="4114800"/>
            <a:ext cx="1737360" cy="1188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4206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JSON</a:t>
            </a:r>
            <a:br/>
            <a:r>
              <a:t>响应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8909C"/>
                </a:solidFill>
                <a:latin typeface="Calibri"/>
              </a:defRPr>
            </a:pPr>
            <a:r>
              <a:t>离线一次处理 → Milvus 持久存储 → 在线每次请求触发检索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229600" y="0"/>
            <a:ext cx="4572000" cy="6858000"/>
          </a:xfrm>
          <a:prstGeom prst="rtTriangle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688"/>
                </a:solidFill>
                <a:latin typeface="Calibri"/>
              </a:defRPr>
            </a:pPr>
            <a:r>
              <a:t>04  在线 RAG 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在线 RAG 服务架构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8288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EC5"/>
                </a:solidFill>
                <a:latin typeface="Calibri"/>
              </a:defRPr>
            </a:pPr>
            <a:r>
              <a:t>从用户请求到最终答案的完整调用链路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3A"/>
                </a:solidFill>
                <a:latin typeface="Arial Black"/>
              </a:defRPr>
            </a:pPr>
            <a:r>
              <a:t>在线服务 5 层调用链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2011680" cy="868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API 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第1层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914400"/>
            <a:ext cx="8046720" cy="8686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0058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3A"/>
                </a:solidFill>
                <a:latin typeface="Calibri"/>
              </a:defRPr>
            </a:pPr>
            <a:r>
              <a:t>FastAPI 入口 · main.py → chat.py</a:t>
            </a:r>
            <a:br/>
            <a:r>
              <a:t>POST /chat/ 和 /chat/stream</a:t>
            </a:r>
            <a:br/>
            <a:r>
              <a:t>Pydantic 自动校验请求/响应</a:t>
            </a:r>
          </a:p>
        </p:txBody>
      </p:sp>
      <p:sp>
        <p:nvSpPr>
          <p:cNvPr id="9" name="Down Arrow 8"/>
          <p:cNvSpPr/>
          <p:nvPr/>
        </p:nvSpPr>
        <p:spPr>
          <a:xfrm>
            <a:off x="1783080" y="1810512"/>
            <a:ext cx="457200" cy="228600"/>
          </a:xfrm>
          <a:prstGeom prst="down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2011680" cy="86868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调度层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第2层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011680"/>
            <a:ext cx="8046720" cy="8686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3A"/>
                </a:solidFill>
                <a:latin typeface="Calibri"/>
              </a:defRPr>
            </a:pPr>
            <a:r>
              <a:t>RAG 总枢纽 · retrieval.py</a:t>
            </a:r>
            <a:br/>
            <a:r>
              <a:t>自动探测 4 个增强功能</a:t>
            </a:r>
            <a:br/>
            <a:r>
              <a:t>协调 5 步检索管道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783080" y="2907792"/>
            <a:ext cx="457200" cy="228600"/>
          </a:xfrm>
          <a:prstGeom prst="down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108960"/>
            <a:ext cx="2011680" cy="868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检索层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第3层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108960"/>
            <a:ext cx="8046720" cy="8686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2004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3A"/>
                </a:solidFill>
                <a:latin typeface="Calibri"/>
              </a:defRPr>
            </a:pPr>
            <a:r>
              <a:t>多路召回 + 重排</a:t>
            </a:r>
            <a:br/>
            <a:r>
              <a:t>Embedding → Milvus搜索 → BM25(可选) → Reranker(可选)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783080" y="4005072"/>
            <a:ext cx="457200" cy="228600"/>
          </a:xfrm>
          <a:prstGeom prst="down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206240"/>
            <a:ext cx="2011680" cy="86868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生成层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第4层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4206240"/>
            <a:ext cx="8046720" cy="8686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9768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3A"/>
                </a:solidFill>
                <a:latin typeface="Calibri"/>
              </a:defRPr>
            </a:pPr>
            <a:r>
              <a:t>LLM 智能分流 · llm_router.py</a:t>
            </a:r>
            <a:br/>
            <a:r>
              <a:t>SGLang(复杂) 或 Ollama(简单) 自动切换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783080" y="5102352"/>
            <a:ext cx="457200" cy="228600"/>
          </a:xfrm>
          <a:prstGeom prst="downArrow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5303520"/>
            <a:ext cx="2011680" cy="868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加速层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第5层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303520"/>
            <a:ext cx="8046720" cy="8686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39496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3A"/>
                </a:solidFill>
                <a:latin typeface="Calibri"/>
              </a:defRPr>
            </a:pPr>
            <a:r>
              <a:t>Redis 缓存 + 模型单例</a:t>
            </a:r>
            <a:br/>
            <a:r>
              <a:t>懒加载(首次30s/复用0.3s)</a:t>
            </a:r>
            <a:br/>
            <a:r>
              <a:t>Reranker 异步预加载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233A"/>
                </a:solidFill>
                <a:latin typeface="Arial Black"/>
              </a:defRPr>
            </a:pPr>
            <a:r>
              <a:t>API 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08176"/>
            <a:ext cx="5029200" cy="25603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Calibri"/>
              </a:defRPr>
            </a:pPr>
            <a:r>
              <a:t>✓  普通问答 POST /chat/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一次性返回完整 JSON</a:t>
            </a:r>
          </a:p>
          <a:p>
            <a:pPr>
              <a:spcAft>
                <a:spcPts val="4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包含 answer + sources 两个字段</a:t>
            </a:r>
          </a:p>
          <a:p>
            <a:pPr>
              <a:spcAft>
                <a:spcPts val="4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Pydantic 自动校验 + 序列化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08176"/>
            <a:ext cx="5029200" cy="25603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000"/>
                </a:solidFill>
                <a:latin typeface="Calibri"/>
              </a:defRPr>
            </a:pPr>
            <a:r>
              <a:t>≈  流式问答 POST /chat/stream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SSE 格式逐 token 返回</a:t>
            </a:r>
          </a:p>
          <a:p>
            <a:pPr>
              <a:spcAft>
                <a:spcPts val="4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打字机效果（类 ChatGPT）</a:t>
            </a:r>
          </a:p>
          <a:p>
            <a:pPr>
              <a:spcAft>
                <a:spcPts val="4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末尾 data: [DONE] 结束标记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10332720" cy="201168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Calibri"/>
              </a:defRPr>
            </a:pPr>
            <a:r>
              <a:t>🤔 为什么两个接口分开？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029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A233A"/>
                </a:solidFill>
                <a:latin typeface="Calibri"/>
              </a:defRPr>
            </a:pPr>
            <a:r>
              <a:t>• 返回格式完全不同——JSON vs 文本流，合并让前端解析复杂度翻倍</a:t>
            </a:r>
          </a:p>
          <a:p>
            <a:pPr>
              <a:spcAft>
                <a:spcPts val="400"/>
              </a:spcAft>
              <a:defRPr sz="1800">
                <a:solidFill>
                  <a:srgbClr val="1A233A"/>
                </a:solidFill>
                <a:latin typeface="Calibri"/>
              </a:defRPr>
            </a:pPr>
            <a:r>
              <a:t>• sources（引用来源）在检索阶段就已确定，比 LLM 生成早，无法在流中捎带</a:t>
            </a:r>
          </a:p>
          <a:p>
            <a:pPr>
              <a:spcAft>
                <a:spcPts val="400"/>
              </a:spcAft>
              <a:defRPr sz="1800">
                <a:solidFill>
                  <a:srgbClr val="1A233A"/>
                </a:solidFill>
                <a:latin typeface="Calibri"/>
              </a:defRPr>
            </a:pPr>
            <a:r>
              <a:t>• 职责分离：每个接口只做一件事，做好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233A"/>
                </a:solidFill>
                <a:latin typeface="Arial Black"/>
              </a:defRPr>
            </a:pPr>
            <a:r>
              <a:t>05  核心设计亮点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25296"/>
            <a:ext cx="5029200" cy="2743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Calibri"/>
              </a:defRPr>
            </a:pPr>
            <a:r>
              <a:t>🔍 自动探测（Probe Pattern）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启动时检测 4 个增强功能是否可用</a:t>
            </a:r>
          </a:p>
          <a:p>
            <a:pPr>
              <a:spcAft>
                <a:spcPts val="4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能用的自启用，不能用的静默跳过</a:t>
            </a:r>
          </a:p>
          <a:p>
            <a:pPr>
              <a:spcAft>
                <a:spcPts val="4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无手动配置开关，零运维负担</a:t>
            </a:r>
          </a:p>
          <a:p>
            <a:pPr>
              <a:spcAft>
                <a:spcPts val="4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异常被 try-except 吞掉，绝不崩溃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25296"/>
            <a:ext cx="5029200" cy="2743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000"/>
                </a:solidFill>
                <a:latin typeface="Calibri"/>
              </a:defRPr>
            </a:pPr>
            <a:r>
              <a:t>🛡️ 多级降级（Degradation）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Query理解失败 → 原始查询继续</a:t>
            </a:r>
          </a:p>
          <a:p>
            <a:pPr>
              <a:spcAft>
                <a:spcPts val="4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混合检索失败 → 降为纯向量检索</a:t>
            </a:r>
          </a:p>
          <a:p>
            <a:pPr>
              <a:spcAft>
                <a:spcPts val="4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Reranker 失败 → 跳过重排</a:t>
            </a:r>
          </a:p>
          <a:p>
            <a:pPr>
              <a:spcAft>
                <a:spcPts val="4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LLM 异常 → 自动切换备用模型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06240"/>
            <a:ext cx="10332720" cy="118872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⚠️ 不知即报：检索不到就不回答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Calibri"/>
              </a:defRPr>
            </a:pPr>
            <a:r>
              <a:t>结果为空时抛异常，不让 LLM 无中生有。从根本上杜绝幻觉（Hallucination）。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669280"/>
            <a:ext cx="10332720" cy="82296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760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33A"/>
                </a:solidFill>
                <a:latin typeface="Calibri"/>
              </a:defRPr>
            </a:pPr>
            <a:r>
              <a:t>⏳ Reranker 异步预加载：probe 只检查文件存在（毫秒级），模型在后台 daemon 线程加载。</a:t>
            </a:r>
            <a:br/>
            <a:r>
              <a:t>三级策略：异步加载 → 同步等60s → 彻底降级。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233A"/>
                </a:solidFill>
                <a:latin typeface="Arial Black"/>
              </a:defRPr>
            </a:pPr>
            <a:r>
              <a:t>LLM 智能分流引擎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08176"/>
            <a:ext cx="5029200" cy="347472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914400" y="1371600"/>
            <a:ext cx="1188720" cy="731520"/>
          </a:xfrm>
          <a:prstGeom prst="homePlat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Calibri"/>
              </a:defRPr>
            </a:pPr>
            <a:r>
              <a:t>SGLang  —  复杂任务引擎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模型：Qwen2.5-1.5B-Instruct</a:t>
            </a:r>
          </a:p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适用：金融分析、多步推理、专业问答</a:t>
            </a:r>
          </a:p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优势：推理精度高，适合专业场景</a:t>
            </a:r>
          </a:p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触发：问题长度 &gt; 100 字符</a:t>
            </a:r>
          </a:p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部署：SGLang serve，OpenAI 兼容接口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08176"/>
            <a:ext cx="5029200" cy="34747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6217920" y="1371600"/>
            <a:ext cx="1188720" cy="731520"/>
          </a:xfrm>
          <a:prstGeom prst="homePlat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000"/>
                </a:solidFill>
                <a:latin typeface="Calibri"/>
              </a:defRPr>
            </a:pPr>
            <a:r>
              <a:t>Ollama  —  轻量任务引擎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模型：qwen2.5:0.5b (0.5B 参数)</a:t>
            </a:r>
          </a:p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适用：简单问答、问候语、短查询</a:t>
            </a:r>
          </a:p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优势：响应极快（毫秒级），几乎不占显存</a:t>
            </a:r>
          </a:p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触发：常规查询、降级备用</a:t>
            </a:r>
          </a:p>
          <a:p>
            <a:pPr>
              <a:spcAft>
                <a:spcPts val="300"/>
              </a:spcAft>
              <a:defRPr sz="2200">
                <a:solidFill>
                  <a:srgbClr val="1A233A"/>
                </a:solidFill>
                <a:latin typeface="Calibri"/>
              </a:defRPr>
            </a:pPr>
            <a:r>
              <a:t>• 部署：Ollama serve，一行命令启动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20640"/>
            <a:ext cx="10332720" cy="1280160"/>
          </a:xfrm>
          <a:prstGeom prst="round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💡 设计哲学：简单问题走小模型（省 token 快响应），复杂问题走大模型（保质量）。</a:t>
            </a:r>
            <a:br/>
            <a:r>
              <a:t>一方不可用时自动切换——成本与精度之间的自适应平衡。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3A"/>
                </a:solidFill>
                <a:latin typeface="Arial Black"/>
              </a:defRPr>
            </a:pPr>
            <a:r>
              <a:t>四大加速机制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首次请求 ~35s  →  热请求 ~3s  （12 倍加速）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5029200" cy="21031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17520" y="178308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单例模式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33A"/>
                </a:solidFill>
                <a:latin typeface="Calibri"/>
              </a:defRPr>
            </a:pPr>
            <a:r>
              <a:t>BGE-M3 模型只加载一次到 GPU</a:t>
            </a:r>
            <a:br/>
            <a:r>
              <a:t>首次 ~30s，后续复用仅 0.3s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29200" cy="21031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0" y="178308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8288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懒加载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33A"/>
                </a:solidFill>
                <a:latin typeface="Calibri"/>
              </a:defRPr>
            </a:pPr>
            <a:r>
              <a:t>启动不加载任何模型</a:t>
            </a:r>
            <a:br/>
            <a:r>
              <a:t>首次请求才触发 Embedding 加载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5029200" cy="21031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17520" y="425196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297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异步预加载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60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33A"/>
                </a:solidFill>
                <a:latin typeface="Calibri"/>
              </a:defRPr>
            </a:pPr>
            <a:r>
              <a:t>Reranker 后台 daemon 线程加载</a:t>
            </a:r>
            <a:br/>
            <a:r>
              <a:t>服务秒级启动，不阻塞主线程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60"/>
            <a:ext cx="5029200" cy="21031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02336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3920" y="425196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297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Redis 缓存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760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33A"/>
                </a:solidFill>
                <a:latin typeface="Calibri"/>
              </a:defRPr>
            </a:pPr>
            <a:r>
              <a:t>MD5 键命中时跳过完整管道</a:t>
            </a:r>
            <a:br/>
            <a:r>
              <a:t>相同问题秒回，无需检索+生成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3A"/>
                </a:solidFill>
                <a:latin typeface="Arial Black"/>
              </a:defRPr>
            </a:pPr>
            <a:r>
              <a:t>企业级中间件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5029200" cy="21031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017520" y="141732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4630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CORS 跨域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33A"/>
                </a:solidFill>
                <a:latin typeface="Calibri"/>
              </a:defRPr>
            </a:pPr>
            <a:r>
              <a:t>放在最外层确保被限流的请求也有跨域头</a:t>
            </a:r>
            <a:br/>
            <a:r>
              <a:t>让浏览器正确显示 429 而非 JS 报错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029200" cy="21031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0" y="141732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630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请求日志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33A"/>
                </a:solidFill>
                <a:latin typeface="Calibri"/>
              </a:defRPr>
            </a:pPr>
            <a:r>
              <a:t>记录方法/路径/IP/耗时</a:t>
            </a:r>
            <a:br/>
            <a:r>
              <a:t>JSON 格式输出，可被 Logstash 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40"/>
            <a:ext cx="5029200" cy="21031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4904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17520" y="397764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40233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速率限制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33A"/>
                </a:solidFill>
                <a:latin typeface="Calibri"/>
              </a:defRPr>
            </a:pPr>
            <a:r>
              <a:t>60 秒窗口最多 100 次请求/IP</a:t>
            </a:r>
            <a:br/>
            <a:r>
              <a:t>超限返回 429，防止资源耗尽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49040"/>
            <a:ext cx="5029200" cy="210312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4904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397764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0233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异常分层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233A"/>
                </a:solidFill>
                <a:latin typeface="Calibri"/>
              </a:defRPr>
            </a:pPr>
            <a:r>
              <a:t>BusinessException → 自定义状态码</a:t>
            </a:r>
            <a:br/>
            <a:r>
              <a:t>Exception → 500 不泄露内部细节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486400"/>
            <a:ext cx="10332720" cy="100584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577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3A"/>
                </a:solidFill>
                <a:latin typeface="Calibri"/>
              </a:defRPr>
            </a:pPr>
            <a:r>
              <a:t>🔄 执行顺序（由外到内）：CORS → Logging → RateLimit → 路由</a:t>
            </a:r>
            <a:br/>
            <a:r>
              <a:t>FastAPI 中间件是"后添加先执行"的栈结构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233A"/>
                </a:solidFill>
                <a:latin typeface="Arial Black"/>
              </a:defRPr>
            </a:pPr>
            <a:r>
              <a:t>高频面试知识点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10972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298448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44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280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3A"/>
                </a:solidFill>
                <a:latin typeface="Calibri"/>
              </a:defRPr>
            </a:pPr>
            <a:r>
              <a:t>第一次请求为什么慢？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3A"/>
                </a:solidFill>
                <a:latin typeface="Calibri"/>
              </a:defRPr>
            </a:pPr>
            <a:r>
              <a:t>模型懒加载。BGE-M3 首次需 ~30s 加载到 GPU 显存，后续复用仅 0.3s。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14600"/>
            <a:ext cx="10332720" cy="10972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624328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06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3A"/>
                </a:solidFill>
                <a:latin typeface="Calibri"/>
              </a:defRPr>
            </a:pPr>
            <a:r>
              <a:t>两个接口为什么分开？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3A"/>
                </a:solidFill>
                <a:latin typeface="Calibri"/>
              </a:defRPr>
            </a:pPr>
            <a:r>
              <a:t>返回格式不兼容。JSON vs 文本流。sources 在检索阶段已确定。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10332720" cy="10972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950208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95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31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3A"/>
                </a:solidFill>
                <a:latin typeface="Calibri"/>
              </a:defRPr>
            </a:pPr>
            <a:r>
              <a:t>空结果为什么调 LLM 报错？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3A"/>
                </a:solidFill>
                <a:latin typeface="Calibri"/>
              </a:defRPr>
            </a:pPr>
            <a:r>
              <a:t>RAG 原则：'不知道就是不知道'。强行生成导致幻觉（Hallucination）。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66360"/>
            <a:ext cx="10332720" cy="109728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5276088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218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257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3A"/>
                </a:solidFill>
                <a:latin typeface="Calibri"/>
              </a:defRPr>
            </a:pPr>
            <a:r>
              <a:t>为什么用单例模式？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715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3A"/>
                </a:solidFill>
                <a:latin typeface="Calibri"/>
              </a:defRPr>
            </a:pPr>
            <a:r>
              <a:t>模型加载 ~30s，占 1-2GB 显存（8GB RTX4060）。多实例会溢出。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233A"/>
                </a:solidFill>
                <a:latin typeface="Arial Black"/>
              </a:defRPr>
            </a:pPr>
            <a:r>
              <a:t>06  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16736"/>
            <a:ext cx="5029200" cy="32004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✅ 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完整 RAG 管道：PDF→检索→生成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双接口：普通 + SSE 流式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LLM 智能分流：SGLang/Ollama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自动探测 + 多级降级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Redis 缓存 + 模型懒加载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企业级中间件 + Docker 部署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0292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16736"/>
            <a:ext cx="5029200" cy="32004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000"/>
                </a:solidFill>
                <a:latin typeface="Calibri"/>
              </a:defRPr>
            </a:pPr>
            <a:r>
              <a:t>🔜 优化方向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Query 理解接入主流程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BM25 + Reranker 启用调优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JWT 用户认证完善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模型量化加速 (INT8)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前端交互体验优化</a:t>
            </a:r>
          </a:p>
          <a:p>
            <a:pPr>
              <a:spcAft>
                <a:spcPts val="300"/>
              </a:spcAft>
              <a:defRPr sz="2000">
                <a:solidFill>
                  <a:srgbClr val="1A233A"/>
                </a:solidFill>
                <a:latin typeface="Calibri"/>
              </a:defRPr>
            </a:pPr>
            <a:r>
              <a:t>• 压力测试 + 性能基准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46320"/>
            <a:ext cx="10332720" cy="155448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029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📖 关键收获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577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A233A"/>
                </a:solidFill>
                <a:latin typeface="Calibri"/>
              </a:defRPr>
            </a:pPr>
            <a:r>
              <a:t>• 深入理解 RAG 全链路——每个环节都有设计权衡</a:t>
            </a:r>
          </a:p>
          <a:p>
            <a:pPr>
              <a:spcAft>
                <a:spcPts val="200"/>
              </a:spcAft>
              <a:defRPr sz="1800">
                <a:solidFill>
                  <a:srgbClr val="1A233A"/>
                </a:solidFill>
                <a:latin typeface="Calibri"/>
              </a:defRPr>
            </a:pPr>
            <a:r>
              <a:t>• 企业级工程实践——降级、缓存、配置管理等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286000"/>
            <a:ext cx="5029200" cy="2286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🎬 现场演示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5661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启动 → 提问 → 查看响应</a:t>
            </a:r>
            <a:br/>
            <a:r>
              <a:t>对比流式/非流式效果</a:t>
            </a:r>
            <a:br/>
            <a:r>
              <a:t>展示自动降级效果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 Black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A0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8909C"/>
                </a:solidFill>
                <a:latin typeface="Calibri"/>
              </a:defRPr>
            </a:pPr>
            <a:r>
              <a:t>欢迎提问与交流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 离线数据处理管道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</a:defRPr>
            </a:pPr>
            <a:r>
              <a:t>PDF → 分块 → 向量化 → Milvus</a:t>
            </a:r>
            <a:br/>
            <a:r>
              <a:t>一次处理，持久存储，在线检索直接用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PDF解析 — MinerU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🎯 为什么选 MinerU？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自带版面分析模型 — 自动识别正文/表格/图片/页眉页脚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支持 OCR — 能处理扫描件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输出结构化 — 表格保留完整行列关系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按阅读顺序输出 — 解决多栏排版混排问题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</a:defRPr>
            </a:pPr>
            <a:r>
              <a:t>📊 对比：PyMuPDF vs MinerU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</a:defRPr>
            </a:pPr>
            <a:r>
              <a:t>PyMuPDF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</a:defRPr>
            </a:pPr>
            <a:r>
              <a:t>MinerU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❌ 不支持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✅ 自带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版面分析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❌ 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✅ 自动识别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表格提取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⚠️ 手动坐标裁剪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✅ 结构化输出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多栏排版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⚠️ 需sort=True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✅ 自动按阅读顺序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速度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✅ 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⚠️ 稍慢（5min/350页）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💡 面试话术：PDF解析用MinerU的pipeline后端，它自带版面分析模型，能自动识别内容类型并过滤非正文元素。比PyMuPDF多了OCR能力，能处理扫描件PDF。350页PDF解析约5分钟，输出344个干净的正文块。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文本分块策略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⚙️ 核心参数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CHUNK_MAX_CHARS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800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BGE-M3最大512 token ≈ 800字符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CHUNK_OVERLAP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句子边界感知，保持语义连贯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分组策略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按章节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同一章的内容语义相关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表格处理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独立分块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每行一个数据点，保留"列名:值"格式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</a:defRPr>
            </a:pPr>
            <a:r>
              <a:t>❓ 为什么按章节分块？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同一章的内容语义相关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跨章分块会把不同主题混在一起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章节标题提供了天然的上下文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检索时可以精确到具体章节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✅ 质量检查：分块后自动输出质量报告，包含总量分布和overlap覆盖率，便于快速判断分块策略是否合理。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向量化与Milvus存储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🧠 向量化模型 — BGE-M3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多语言支持 — 中英文混合场景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稠密+稀疏+多向量 — 三种检索模式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8192 token — 长文本友好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normalize_embeddings=True — 内积等价余弦相似度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✅ batch_size=32 — 批量处理效率高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</a:defRPr>
            </a:pPr>
            <a:r>
              <a:t>🗄️ 向量数据库 — Milvus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专为向量检索设计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支持 IVF_FLAT / HNSW 索引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支持标量过滤（按公司/章节）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持久化存储，重启不丢失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单机部署，适合中小规模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💡 面试话术：向量化用BGE-M3模型，batch_size=32，normalize_embeddings=True确保内积等价余弦相似度。文本和向量存储在同一JSONL里，chunk_id对应。失败容错：单条失败跳过不阻塞整体。Milvus用IVF_FLAT索引，nlist=1024，搜索时nprobe=10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